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1F55-C6F3-67C7-D80B-F7393A41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F44B1-92C4-8201-BD5D-12333FCA2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A73E-1EF1-DC83-7E42-543CE16B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7F726-80BA-5F71-7AD3-AE4359A8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2E204-FE2D-F900-1015-C6C27AD4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62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36B6-7650-28E7-33EE-4B203B9E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2A83-98C5-3DAC-7949-F9D3FE46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DEC2-C43F-DA2C-B25B-20F59BA6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BDBF-326A-9FA9-66C2-D1175193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B86F2-50D8-D658-7760-027AE20F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854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E61D-88D5-B871-283A-0DDAC3D3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1AB6C-7484-8D55-F4CC-4076F3753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763A-7215-CB06-906E-CCD8333F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015A3-8C77-B1D8-F375-134163C0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5AB6-0ED8-7AE3-784F-AD106DEC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06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DC44-816E-326E-8ACA-B6F927CE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F7A29-EA0E-C72F-26A3-E5051FBDA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59438-EE9B-D1BF-7DC1-8A2BACCE4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4159-31EE-8DAA-77AF-B3C1D948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A975E-C593-F360-C268-CDCFBD38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AE59-8201-2CFE-7E0B-CF8F8D76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010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1159-58AF-0EC1-8F52-63170B01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A9E9-FC9F-E908-5F65-7C89EB67B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6B9E0-84B5-56F4-D343-91B46BD60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E287FE-4809-E8E6-D333-4D326ABAC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C5BB1-D477-FFC4-CE57-56F1CF2BF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0256B-6C22-FC2A-92DE-C986B72F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CD130-519F-2F90-B53D-9D10DD98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6BD36-1D9A-AB91-9746-B3CD6C2A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86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2DAD-1B85-B29D-7A58-16696785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44493-837D-A511-13CA-B415CB6C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4E9A6-939C-6956-B70E-B8386CB15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E6B84-A28E-297E-2D65-93A28939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99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D6E7F-85EA-6EA9-3922-4F6B3A6B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11551-E1F3-5770-118F-2FD4F472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A8600-ADFB-372A-957F-105B2F81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12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3ADD-7107-75B9-4DB1-24A9B461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6166-4712-76C6-1871-D8A6932B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28D4D-7F76-D7B2-85BD-B8C5A70E4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22B28-31DF-055B-B1ED-232B0C74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04593-855F-604C-B78D-5E11D37F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882FE-8413-63C3-00EB-B0B8A9F7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69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485D-00DA-38AF-E6A5-F45593EF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FE1B9-6BF7-3E4D-2505-62CD98BEC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A6599-F279-82CE-F0E9-29F77602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C3C5B-A1DF-7FCE-E69B-01A7567E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0AF7E-2554-336F-AEA7-F3608A13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CBD3B-4909-A316-ADCD-83B99B96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80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3BF0-6F95-2CE0-2386-90E24E11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B986C-532F-20B6-A40F-0388F630C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BF22-0C6F-54A9-A3E0-5AD7944A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11B8E-142D-307D-65F0-446107B1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73E8-E123-277E-21C3-81C20BFE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65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49CB00-0A74-5A61-5E75-FE5E355DF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4E5BC-DF3D-90AF-AAD5-E57A44B12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449BF-6340-8563-05DD-8F6F41C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AD6FD-DE4B-4CD9-F393-E7748284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E794-8681-DEB9-0880-58D76D5F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A0404-F484-A446-DAEC-00A159B9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28F34-620D-6259-F34B-651B720F1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92F77-0DF1-53FF-040E-4F2A05462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E1513-6966-4400-A5EA-4D8936D80FAF}" type="datetimeFigureOut">
              <a:rPr lang="de-DE" smtClean="0"/>
              <a:t>13.09.2026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C5FB-4B40-24E2-B8F2-BE95573D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1E710-6D5E-3D82-6415-7FF1A00CE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B2883-8852-46AE-8658-118E9447BC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15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.png"/><Relationship Id="rId3" Type="http://schemas.openxmlformats.org/officeDocument/2006/relationships/image" Target="../media/image3.svg"/><Relationship Id="rId7" Type="http://schemas.openxmlformats.org/officeDocument/2006/relationships/image" Target="../media/image14.sv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EDD7DFE-4DEE-DBF9-37D8-2C585D66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915" y="918512"/>
            <a:ext cx="2311243" cy="619867"/>
          </a:xfrm>
          <a:prstGeom prst="rect">
            <a:avLst/>
          </a:prstGeom>
        </p:spPr>
      </p:pic>
      <p:pic>
        <p:nvPicPr>
          <p:cNvPr id="8" name="Picture 7" descr="Visual Studio Code Logo / Software / Logonoid.com">
            <a:extLst>
              <a:ext uri="{FF2B5EF4-FFF2-40B4-BE49-F238E27FC236}">
                <a16:creationId xmlns:a16="http://schemas.microsoft.com/office/drawing/2014/main" id="{B65B0CE1-2CF8-7559-4A51-6F07188DD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946" y="560105"/>
            <a:ext cx="1336681" cy="1336681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812FD532-7AA5-B956-E554-FEFFAAAB7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041" y="3164005"/>
            <a:ext cx="1948221" cy="1948221"/>
          </a:xfrm>
          <a:prstGeom prst="rect">
            <a:avLst/>
          </a:prstGeom>
        </p:spPr>
      </p:pic>
      <p:pic>
        <p:nvPicPr>
          <p:cNvPr id="17" name="Picture 16" descr="vLLM-Full-Logo.png">
            <a:extLst>
              <a:ext uri="{FF2B5EF4-FFF2-40B4-BE49-F238E27FC236}">
                <a16:creationId xmlns:a16="http://schemas.microsoft.com/office/drawing/2014/main" id="{A62B7027-C52A-332E-2B25-41CF0D032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95" y="2041173"/>
            <a:ext cx="2245663" cy="11228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5870A1-C749-9B1B-4241-AB33BCE9B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754" y="2941822"/>
            <a:ext cx="500793" cy="444366"/>
          </a:xfrm>
          <a:prstGeom prst="rect">
            <a:avLst/>
          </a:prstGeom>
        </p:spPr>
      </p:pic>
      <p:sp>
        <p:nvSpPr>
          <p:cNvPr id="22" name="Arrow: Left 21">
            <a:extLst>
              <a:ext uri="{FF2B5EF4-FFF2-40B4-BE49-F238E27FC236}">
                <a16:creationId xmlns:a16="http://schemas.microsoft.com/office/drawing/2014/main" id="{60C22941-3A59-DDE5-CBF0-EFF2B724991A}"/>
              </a:ext>
            </a:extLst>
          </p:cNvPr>
          <p:cNvSpPr/>
          <p:nvPr/>
        </p:nvSpPr>
        <p:spPr>
          <a:xfrm>
            <a:off x="2853262" y="3586294"/>
            <a:ext cx="1420928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876F35E8-126C-707B-3AB6-C5231981839B}"/>
              </a:ext>
            </a:extLst>
          </p:cNvPr>
          <p:cNvSpPr/>
          <p:nvPr/>
        </p:nvSpPr>
        <p:spPr>
          <a:xfrm flipH="1">
            <a:off x="6095999" y="3586294"/>
            <a:ext cx="1332452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FD2195-0BB6-F0A5-8366-D2A194A0D79F}"/>
              </a:ext>
            </a:extLst>
          </p:cNvPr>
          <p:cNvSpPr txBox="1"/>
          <p:nvPr/>
        </p:nvSpPr>
        <p:spPr>
          <a:xfrm>
            <a:off x="4763549" y="3116051"/>
            <a:ext cx="1262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?</a:t>
            </a:r>
            <a:endParaRPr lang="de-DE" sz="9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9AD1F99-039B-F6EC-2D35-205C84A9A7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511" y="1851199"/>
            <a:ext cx="3493561" cy="408828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AD1E78C-EAE3-4EB6-893A-F625830C5873}"/>
              </a:ext>
            </a:extLst>
          </p:cNvPr>
          <p:cNvSpPr txBox="1"/>
          <p:nvPr/>
        </p:nvSpPr>
        <p:spPr>
          <a:xfrm>
            <a:off x="1132514" y="5075339"/>
            <a:ext cx="1472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Qwen, DeepSeek, Nvidia, GLM, Kimi, …</a:t>
            </a:r>
            <a:endParaRPr lang="de-DE" dirty="0"/>
          </a:p>
        </p:txBody>
      </p:sp>
      <p:pic>
        <p:nvPicPr>
          <p:cNvPr id="34" name="Graphic 33" descr="Factory outline">
            <a:extLst>
              <a:ext uri="{FF2B5EF4-FFF2-40B4-BE49-F238E27FC236}">
                <a16:creationId xmlns:a16="http://schemas.microsoft.com/office/drawing/2014/main" id="{11CCA1F6-0D1C-E0AC-1311-E935B76BA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9872" y="5983447"/>
            <a:ext cx="914400" cy="914400"/>
          </a:xfrm>
          <a:prstGeom prst="rect">
            <a:avLst/>
          </a:prstGeom>
        </p:spPr>
      </p:pic>
      <p:pic>
        <p:nvPicPr>
          <p:cNvPr id="36" name="Graphic 35" descr="Programmer male outline">
            <a:extLst>
              <a:ext uri="{FF2B5EF4-FFF2-40B4-BE49-F238E27FC236}">
                <a16:creationId xmlns:a16="http://schemas.microsoft.com/office/drawing/2014/main" id="{79464A86-4659-8AF7-CE13-B42B92AE7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0528" y="5943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3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546BC-4572-7D50-7752-8DE8BEC0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2AB2E6-A394-F20B-68D8-E2BBCEAD6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915" y="918511"/>
            <a:ext cx="2311243" cy="619867"/>
          </a:xfrm>
          <a:prstGeom prst="rect">
            <a:avLst/>
          </a:prstGeom>
        </p:spPr>
      </p:pic>
      <p:pic>
        <p:nvPicPr>
          <p:cNvPr id="8" name="Picture 7" descr="Visual Studio Code Logo / Software / Logonoid.com">
            <a:extLst>
              <a:ext uri="{FF2B5EF4-FFF2-40B4-BE49-F238E27FC236}">
                <a16:creationId xmlns:a16="http://schemas.microsoft.com/office/drawing/2014/main" id="{8F15A072-C433-3C55-AF1F-832BD852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946" y="560105"/>
            <a:ext cx="1336681" cy="1336681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276E65AC-911E-9B50-F23F-76A2995D7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041" y="3164005"/>
            <a:ext cx="1948221" cy="1948221"/>
          </a:xfrm>
          <a:prstGeom prst="rect">
            <a:avLst/>
          </a:prstGeom>
        </p:spPr>
      </p:pic>
      <p:pic>
        <p:nvPicPr>
          <p:cNvPr id="17" name="Picture 16" descr="vLLM-Full-Logo.png">
            <a:extLst>
              <a:ext uri="{FF2B5EF4-FFF2-40B4-BE49-F238E27FC236}">
                <a16:creationId xmlns:a16="http://schemas.microsoft.com/office/drawing/2014/main" id="{50233F2B-A8F1-A3D6-15AD-38C926758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78" y="2123988"/>
            <a:ext cx="2245663" cy="11228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1D6602-0C3E-69A0-AC4F-9DB45C7A8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63" y="5046544"/>
            <a:ext cx="500793" cy="444366"/>
          </a:xfrm>
          <a:prstGeom prst="rect">
            <a:avLst/>
          </a:prstGeom>
        </p:spPr>
      </p:pic>
      <p:sp>
        <p:nvSpPr>
          <p:cNvPr id="22" name="Arrow: Left 21">
            <a:extLst>
              <a:ext uri="{FF2B5EF4-FFF2-40B4-BE49-F238E27FC236}">
                <a16:creationId xmlns:a16="http://schemas.microsoft.com/office/drawing/2014/main" id="{8B019BCF-D17B-D5C0-82A5-BF868457C2C7}"/>
              </a:ext>
            </a:extLst>
          </p:cNvPr>
          <p:cNvSpPr/>
          <p:nvPr/>
        </p:nvSpPr>
        <p:spPr>
          <a:xfrm>
            <a:off x="2853262" y="3586294"/>
            <a:ext cx="1334783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28F180A4-127A-F429-D6C6-49FEB4F76E89}"/>
              </a:ext>
            </a:extLst>
          </p:cNvPr>
          <p:cNvSpPr/>
          <p:nvPr/>
        </p:nvSpPr>
        <p:spPr>
          <a:xfrm flipH="1">
            <a:off x="6095999" y="3586294"/>
            <a:ext cx="1332452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953AC70-2C9D-E40F-2DFE-2F21110DF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946" y="1896786"/>
            <a:ext cx="3675212" cy="430086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B465708-5EFA-9E39-7D64-601F582FF0C4}"/>
              </a:ext>
            </a:extLst>
          </p:cNvPr>
          <p:cNvSpPr txBox="1"/>
          <p:nvPr/>
        </p:nvSpPr>
        <p:spPr>
          <a:xfrm>
            <a:off x="796917" y="4974672"/>
            <a:ext cx="241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Qwen, DeepSeek, Nvidia, GLM, Kimi, …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A60D4-4DB8-A031-9360-23558363D8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7406" y="2602589"/>
            <a:ext cx="1849232" cy="2517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D6E06A-7877-5655-FB97-D1EC5DADF8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6" y="2991443"/>
            <a:ext cx="2122183" cy="350243"/>
          </a:xfrm>
          <a:prstGeom prst="rect">
            <a:avLst/>
          </a:prstGeom>
        </p:spPr>
      </p:pic>
      <p:pic>
        <p:nvPicPr>
          <p:cNvPr id="6" name="Graphic 5" descr="llama1-logo.svg">
            <a:extLst>
              <a:ext uri="{FF2B5EF4-FFF2-40B4-BE49-F238E27FC236}">
                <a16:creationId xmlns:a16="http://schemas.microsoft.com/office/drawing/2014/main" id="{D013D6A6-B672-B3DA-5A66-AF67B1485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917" y="6040020"/>
            <a:ext cx="1004619" cy="3348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BC24B8-71E9-C4E8-0CA1-61D082EE6A86}"/>
              </a:ext>
            </a:extLst>
          </p:cNvPr>
          <p:cNvSpPr txBox="1"/>
          <p:nvPr/>
        </p:nvSpPr>
        <p:spPr>
          <a:xfrm>
            <a:off x="2219266" y="6052820"/>
            <a:ext cx="241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, …</a:t>
            </a:r>
            <a:endParaRPr lang="de-DE" dirty="0"/>
          </a:p>
        </p:txBody>
      </p:sp>
      <p:pic>
        <p:nvPicPr>
          <p:cNvPr id="11" name="Picture 10" descr="LM STUDIO - Element Labs Inc. Trademark Registration">
            <a:extLst>
              <a:ext uri="{FF2B5EF4-FFF2-40B4-BE49-F238E27FC236}">
                <a16:creationId xmlns:a16="http://schemas.microsoft.com/office/drawing/2014/main" id="{4689DB01-7406-FA00-A82B-47F2A646DD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205" y="6422152"/>
            <a:ext cx="791100" cy="2568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8071A-DB73-F15D-86A6-649696DAC1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5478" y="6207456"/>
            <a:ext cx="687575" cy="6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A5B01-C309-F689-1196-6CECCD62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843249-D6FA-5BF9-E8A2-9A13E5D04B55}"/>
              </a:ext>
            </a:extLst>
          </p:cNvPr>
          <p:cNvSpPr/>
          <p:nvPr/>
        </p:nvSpPr>
        <p:spPr>
          <a:xfrm>
            <a:off x="5486399" y="1853967"/>
            <a:ext cx="6272759" cy="4018327"/>
          </a:xfrm>
          <a:prstGeom prst="roundRect">
            <a:avLst>
              <a:gd name="adj" fmla="val 180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7" descr="Visual Studio Code Logo / Software / Logonoid.com">
            <a:extLst>
              <a:ext uri="{FF2B5EF4-FFF2-40B4-BE49-F238E27FC236}">
                <a16:creationId xmlns:a16="http://schemas.microsoft.com/office/drawing/2014/main" id="{B62E9FC1-2000-7D5B-AA09-4015712D9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875" y="493337"/>
            <a:ext cx="1336681" cy="1336681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1AD22DF1-AFA0-1573-291B-4E6574705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030" y="3172072"/>
            <a:ext cx="1586768" cy="1586768"/>
          </a:xfrm>
          <a:prstGeom prst="rect">
            <a:avLst/>
          </a:prstGeom>
        </p:spPr>
      </p:pic>
      <p:pic>
        <p:nvPicPr>
          <p:cNvPr id="17" name="Picture 16" descr="vLLM-Full-Logo.png">
            <a:extLst>
              <a:ext uri="{FF2B5EF4-FFF2-40B4-BE49-F238E27FC236}">
                <a16:creationId xmlns:a16="http://schemas.microsoft.com/office/drawing/2014/main" id="{EA95A3E2-C48A-EC73-212C-29F9782DD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08" y="2258752"/>
            <a:ext cx="2245663" cy="1122832"/>
          </a:xfrm>
          <a:prstGeom prst="rect">
            <a:avLst/>
          </a:prstGeom>
        </p:spPr>
      </p:pic>
      <p:sp>
        <p:nvSpPr>
          <p:cNvPr id="22" name="Arrow: Left 21">
            <a:extLst>
              <a:ext uri="{FF2B5EF4-FFF2-40B4-BE49-F238E27FC236}">
                <a16:creationId xmlns:a16="http://schemas.microsoft.com/office/drawing/2014/main" id="{05E5B762-78CF-B0F0-44A7-25A06A85414D}"/>
              </a:ext>
            </a:extLst>
          </p:cNvPr>
          <p:cNvSpPr/>
          <p:nvPr/>
        </p:nvSpPr>
        <p:spPr>
          <a:xfrm>
            <a:off x="3848311" y="3546777"/>
            <a:ext cx="1334783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C0D80107-16FA-62FB-2221-CA3E09FE71C0}"/>
              </a:ext>
            </a:extLst>
          </p:cNvPr>
          <p:cNvSpPr/>
          <p:nvPr/>
        </p:nvSpPr>
        <p:spPr>
          <a:xfrm flipH="1">
            <a:off x="6974474" y="3546777"/>
            <a:ext cx="1332452" cy="62917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AEFD396-7CD6-A7E2-8812-987B6E8D6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643" y="1905982"/>
            <a:ext cx="3341860" cy="3910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39DEBE-5846-3291-506C-8A741D5D9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637" y="2880620"/>
            <a:ext cx="1379621" cy="1878220"/>
          </a:xfrm>
          <a:prstGeom prst="rect">
            <a:avLst/>
          </a:prstGeom>
        </p:spPr>
      </p:pic>
      <p:pic>
        <p:nvPicPr>
          <p:cNvPr id="4" name="Graphic 3" descr="Full Brick Wall outline">
            <a:extLst>
              <a:ext uri="{FF2B5EF4-FFF2-40B4-BE49-F238E27FC236}">
                <a16:creationId xmlns:a16="http://schemas.microsoft.com/office/drawing/2014/main" id="{CE2ED81C-AC2B-2149-73B3-760724A27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1873" y="3427398"/>
            <a:ext cx="914400" cy="960339"/>
          </a:xfrm>
          <a:prstGeom prst="rect">
            <a:avLst/>
          </a:prstGeom>
        </p:spPr>
      </p:pic>
      <p:pic>
        <p:nvPicPr>
          <p:cNvPr id="13" name="Graphic 12" descr="Programmer male outline">
            <a:extLst>
              <a:ext uri="{FF2B5EF4-FFF2-40B4-BE49-F238E27FC236}">
                <a16:creationId xmlns:a16="http://schemas.microsoft.com/office/drawing/2014/main" id="{566603CC-988B-C337-F704-6C0B82257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4998" y="5840695"/>
            <a:ext cx="914400" cy="9144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9440F-79C4-7B90-E91D-B8AAF29297EF}"/>
              </a:ext>
            </a:extLst>
          </p:cNvPr>
          <p:cNvCxnSpPr>
            <a:endCxn id="4" idx="1"/>
          </p:cNvCxnSpPr>
          <p:nvPr/>
        </p:nvCxnSpPr>
        <p:spPr>
          <a:xfrm>
            <a:off x="2537670" y="3907567"/>
            <a:ext cx="44420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Server outline">
            <a:extLst>
              <a:ext uri="{FF2B5EF4-FFF2-40B4-BE49-F238E27FC236}">
                <a16:creationId xmlns:a16="http://schemas.microsoft.com/office/drawing/2014/main" id="{06828393-1EEB-0BAC-7A58-8B8133872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81873" y="2820168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BEEEA2-2AE0-E260-2DFE-F836D64D0B97}"/>
              </a:ext>
            </a:extLst>
          </p:cNvPr>
          <p:cNvSpPr txBox="1"/>
          <p:nvPr/>
        </p:nvSpPr>
        <p:spPr>
          <a:xfrm>
            <a:off x="2999369" y="4608829"/>
            <a:ext cx="98717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Proxy</a:t>
            </a:r>
            <a:br>
              <a:rPr lang="en-US" dirty="0"/>
            </a:br>
            <a:r>
              <a:rPr lang="en-US" sz="1050" dirty="0"/>
              <a:t>(Security: http headers)</a:t>
            </a:r>
            <a:endParaRPr lang="de-DE" sz="10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166683-F344-0593-C162-960FCC52E59F}"/>
              </a:ext>
            </a:extLst>
          </p:cNvPr>
          <p:cNvSpPr txBox="1"/>
          <p:nvPr/>
        </p:nvSpPr>
        <p:spPr>
          <a:xfrm>
            <a:off x="1449380" y="4608830"/>
            <a:ext cx="98717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vLLM</a:t>
            </a:r>
            <a:br>
              <a:rPr lang="en-US" dirty="0"/>
            </a:br>
            <a:r>
              <a:rPr lang="en-US" sz="1050" dirty="0"/>
              <a:t>(Security: API-Key)</a:t>
            </a:r>
            <a:endParaRPr lang="de-DE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E301B3-0D72-ABA7-D0D0-31402190D9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9900" y="6017121"/>
            <a:ext cx="5139004" cy="76849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9939AB-D300-D3E2-3001-A987C232FCB6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3103927" y="5301326"/>
            <a:ext cx="389029" cy="6596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50C8E472-F6E1-CCD7-CABD-003065ED75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660" y="5687919"/>
            <a:ext cx="1416123" cy="273064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162506-531E-E3F3-27DC-09AB0AB4484A}"/>
              </a:ext>
            </a:extLst>
          </p:cNvPr>
          <p:cNvCxnSpPr>
            <a:cxnSpLocks/>
          </p:cNvCxnSpPr>
          <p:nvPr/>
        </p:nvCxnSpPr>
        <p:spPr>
          <a:xfrm flipH="1">
            <a:off x="1771922" y="5339593"/>
            <a:ext cx="44492" cy="3325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40AA4E26-E542-DE3D-A3E4-EBC691D9D7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1922" y="1261915"/>
            <a:ext cx="2159111" cy="406421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2502C5D-EC3A-4920-C04B-AB28A7F9FAAB}"/>
              </a:ext>
            </a:extLst>
          </p:cNvPr>
          <p:cNvCxnSpPr/>
          <p:nvPr/>
        </p:nvCxnSpPr>
        <p:spPr>
          <a:xfrm flipH="1">
            <a:off x="1816414" y="1715549"/>
            <a:ext cx="326973" cy="616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AFB43DA-FB06-B595-D545-B2EFD85D0D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3049" y="2258752"/>
            <a:ext cx="2311243" cy="619867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785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2DD2-AAB0-B42D-493D-CC9F75AD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C2466E5-357D-13F5-4ED8-2B7425182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915" y="918511"/>
            <a:ext cx="2311243" cy="619867"/>
          </a:xfrm>
          <a:prstGeom prst="rect">
            <a:avLst/>
          </a:prstGeom>
        </p:spPr>
      </p:pic>
      <p:pic>
        <p:nvPicPr>
          <p:cNvPr id="8" name="Picture 7" descr="Visual Studio Code Logo / Software / Logonoid.com">
            <a:extLst>
              <a:ext uri="{FF2B5EF4-FFF2-40B4-BE49-F238E27FC236}">
                <a16:creationId xmlns:a16="http://schemas.microsoft.com/office/drawing/2014/main" id="{650E1E26-1A4D-E7F2-F4CE-5B6F423E0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946" y="560105"/>
            <a:ext cx="1336681" cy="1336681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9940889C-8F2C-3E7E-06D6-B980A7D2C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041" y="3164005"/>
            <a:ext cx="1948221" cy="1948221"/>
          </a:xfrm>
          <a:prstGeom prst="rect">
            <a:avLst/>
          </a:prstGeom>
        </p:spPr>
      </p:pic>
      <p:pic>
        <p:nvPicPr>
          <p:cNvPr id="17" name="Picture 16" descr="vLLM-Full-Logo.png">
            <a:extLst>
              <a:ext uri="{FF2B5EF4-FFF2-40B4-BE49-F238E27FC236}">
                <a16:creationId xmlns:a16="http://schemas.microsoft.com/office/drawing/2014/main" id="{D24DE476-C33D-658D-533F-35A9ECF19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78" y="2123988"/>
            <a:ext cx="2245663" cy="11228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D1D086-D369-2E03-F498-BC820C120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63" y="5046544"/>
            <a:ext cx="500793" cy="4443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35DCFE1-E81C-6CA0-D045-E9126F2365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946" y="1963843"/>
            <a:ext cx="3675212" cy="430086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F13E2B1-DC0D-2285-EC9E-07E6162D9C08}"/>
              </a:ext>
            </a:extLst>
          </p:cNvPr>
          <p:cNvSpPr txBox="1"/>
          <p:nvPr/>
        </p:nvSpPr>
        <p:spPr>
          <a:xfrm>
            <a:off x="796917" y="4974672"/>
            <a:ext cx="241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Qwen, DeepSeek, Nvidia, GLM, Kimi, …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F5341-7BE7-9697-5397-7BCB21A213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989" y="2640860"/>
            <a:ext cx="1849232" cy="2517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0ED45-3713-9840-4B63-232E460B39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6" y="2991443"/>
            <a:ext cx="2122183" cy="350243"/>
          </a:xfrm>
          <a:prstGeom prst="rect">
            <a:avLst/>
          </a:prstGeom>
        </p:spPr>
      </p:pic>
      <p:pic>
        <p:nvPicPr>
          <p:cNvPr id="6" name="Graphic 5" descr="llama1-logo.svg">
            <a:extLst>
              <a:ext uri="{FF2B5EF4-FFF2-40B4-BE49-F238E27FC236}">
                <a16:creationId xmlns:a16="http://schemas.microsoft.com/office/drawing/2014/main" id="{0EC87E5C-D9B9-EB66-8772-13FDE9138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917" y="6040020"/>
            <a:ext cx="1004619" cy="3348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F1C213-9E44-A0F0-1C34-8DB4B5D53395}"/>
              </a:ext>
            </a:extLst>
          </p:cNvPr>
          <p:cNvSpPr txBox="1"/>
          <p:nvPr/>
        </p:nvSpPr>
        <p:spPr>
          <a:xfrm>
            <a:off x="2219266" y="6052820"/>
            <a:ext cx="241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, …</a:t>
            </a:r>
            <a:endParaRPr lang="de-DE" dirty="0"/>
          </a:p>
        </p:txBody>
      </p:sp>
      <p:pic>
        <p:nvPicPr>
          <p:cNvPr id="11" name="Picture 10" descr="LM STUDIO - Element Labs Inc. Trademark Registration">
            <a:extLst>
              <a:ext uri="{FF2B5EF4-FFF2-40B4-BE49-F238E27FC236}">
                <a16:creationId xmlns:a16="http://schemas.microsoft.com/office/drawing/2014/main" id="{A3DA0F78-BE0F-DD77-9382-D4619E3846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205" y="6422152"/>
            <a:ext cx="791100" cy="2568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A9F166-D143-A844-5618-C2ADE5D167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5478" y="6207456"/>
            <a:ext cx="687575" cy="6875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9F8516-A4D6-B023-0475-D046A01D8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114" y="1198197"/>
            <a:ext cx="652096" cy="57862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9054C3-434F-339B-A7F1-3F5BA834A4AE}"/>
              </a:ext>
            </a:extLst>
          </p:cNvPr>
          <p:cNvCxnSpPr/>
          <p:nvPr/>
        </p:nvCxnSpPr>
        <p:spPr>
          <a:xfrm flipV="1">
            <a:off x="4903365" y="1896786"/>
            <a:ext cx="0" cy="624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CF237F-31F5-EF2F-BBE9-2F4C8B90C6E0}"/>
              </a:ext>
            </a:extLst>
          </p:cNvPr>
          <p:cNvSpPr txBox="1"/>
          <p:nvPr/>
        </p:nvSpPr>
        <p:spPr>
          <a:xfrm>
            <a:off x="4071640" y="2078903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Model id</a:t>
            </a:r>
            <a:endParaRPr lang="de-DE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44E75F-8056-37E4-DB1E-F3742AB2CBC7}"/>
              </a:ext>
            </a:extLst>
          </p:cNvPr>
          <p:cNvCxnSpPr>
            <a:cxnSpLocks/>
          </p:cNvCxnSpPr>
          <p:nvPr/>
        </p:nvCxnSpPr>
        <p:spPr>
          <a:xfrm>
            <a:off x="5189989" y="1911030"/>
            <a:ext cx="0" cy="595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9DD4D9-7265-B81C-5FC0-9FF059964A65}"/>
              </a:ext>
            </a:extLst>
          </p:cNvPr>
          <p:cNvSpPr txBox="1"/>
          <p:nvPr/>
        </p:nvSpPr>
        <p:spPr>
          <a:xfrm>
            <a:off x="5212452" y="2078903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Config</a:t>
            </a:r>
            <a:endParaRPr lang="de-DE" sz="1400" dirty="0"/>
          </a:p>
        </p:txBody>
      </p:sp>
      <p:pic>
        <p:nvPicPr>
          <p:cNvPr id="26" name="Picture 25" descr="GitHub Logo, symbol, meaning, history, PNG, brand">
            <a:extLst>
              <a:ext uri="{FF2B5EF4-FFF2-40B4-BE49-F238E27FC236}">
                <a16:creationId xmlns:a16="http://schemas.microsoft.com/office/drawing/2014/main" id="{8F6131F5-2F05-A472-C90E-90F58B5B5B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2022" y="1460217"/>
            <a:ext cx="605313" cy="340488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721589-C39C-5EB0-09C6-6F4178F9154D}"/>
              </a:ext>
            </a:extLst>
          </p:cNvPr>
          <p:cNvCxnSpPr>
            <a:cxnSpLocks/>
          </p:cNvCxnSpPr>
          <p:nvPr/>
        </p:nvCxnSpPr>
        <p:spPr>
          <a:xfrm>
            <a:off x="2928077" y="4153652"/>
            <a:ext cx="1042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BF70B3A-7243-4324-70BA-5C7804BCB886}"/>
              </a:ext>
            </a:extLst>
          </p:cNvPr>
          <p:cNvSpPr txBox="1"/>
          <p:nvPr/>
        </p:nvSpPr>
        <p:spPr>
          <a:xfrm>
            <a:off x="2961386" y="3881384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Model ids</a:t>
            </a:r>
            <a:endParaRPr lang="de-DE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02B54A-BD99-10EA-0D27-D8E17B0890BA}"/>
              </a:ext>
            </a:extLst>
          </p:cNvPr>
          <p:cNvSpPr txBox="1"/>
          <p:nvPr/>
        </p:nvSpPr>
        <p:spPr>
          <a:xfrm>
            <a:off x="2889739" y="4114275"/>
            <a:ext cx="1115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Ctx</a:t>
            </a:r>
            <a:r>
              <a:rPr lang="en-US" sz="1400" dirty="0"/>
              <a:t> Window</a:t>
            </a:r>
            <a:endParaRPr lang="de-DE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5CCFFB-70D1-0D80-4D27-7477C2265C6D}"/>
              </a:ext>
            </a:extLst>
          </p:cNvPr>
          <p:cNvCxnSpPr>
            <a:cxnSpLocks/>
          </p:cNvCxnSpPr>
          <p:nvPr/>
        </p:nvCxnSpPr>
        <p:spPr>
          <a:xfrm flipH="1">
            <a:off x="2967349" y="3712636"/>
            <a:ext cx="9772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BAE9A3A-F187-CF7A-EFDE-9C1E5936DE8F}"/>
              </a:ext>
            </a:extLst>
          </p:cNvPr>
          <p:cNvSpPr txBox="1"/>
          <p:nvPr/>
        </p:nvSpPr>
        <p:spPr>
          <a:xfrm>
            <a:off x="2985684" y="3452152"/>
            <a:ext cx="1115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Models?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86361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7451-7C41-93A9-3458-CA8EFAAE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Visual Studio Code Logo / Software / Logonoid.com">
            <a:extLst>
              <a:ext uri="{FF2B5EF4-FFF2-40B4-BE49-F238E27FC236}">
                <a16:creationId xmlns:a16="http://schemas.microsoft.com/office/drawing/2014/main" id="{1D43CEBD-2299-390E-8491-A21058EC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607" y="569911"/>
            <a:ext cx="1336681" cy="1336681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254F1B1A-7F2B-FC81-1F7C-1F70193F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498" y="3224923"/>
            <a:ext cx="1948221" cy="1948221"/>
          </a:xfrm>
          <a:prstGeom prst="rect">
            <a:avLst/>
          </a:prstGeom>
        </p:spPr>
      </p:pic>
      <p:pic>
        <p:nvPicPr>
          <p:cNvPr id="17" name="Picture 16" descr="vLLM-Full-Logo.png">
            <a:extLst>
              <a:ext uri="{FF2B5EF4-FFF2-40B4-BE49-F238E27FC236}">
                <a16:creationId xmlns:a16="http://schemas.microsoft.com/office/drawing/2014/main" id="{B69C7703-C794-B8D3-74C4-8E322EAB9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8" y="2188047"/>
            <a:ext cx="2245663" cy="1122832"/>
          </a:xfrm>
          <a:prstGeom prst="rect">
            <a:avLst/>
          </a:prstGeom>
        </p:spPr>
      </p:pic>
      <p:sp>
        <p:nvSpPr>
          <p:cNvPr id="22" name="Arrow: Left 21">
            <a:extLst>
              <a:ext uri="{FF2B5EF4-FFF2-40B4-BE49-F238E27FC236}">
                <a16:creationId xmlns:a16="http://schemas.microsoft.com/office/drawing/2014/main" id="{475EA93C-FDD4-6653-95B3-6965E8F83ED1}"/>
              </a:ext>
            </a:extLst>
          </p:cNvPr>
          <p:cNvSpPr/>
          <p:nvPr/>
        </p:nvSpPr>
        <p:spPr>
          <a:xfrm>
            <a:off x="1992385" y="3508941"/>
            <a:ext cx="2168097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0342D2DC-998E-B5C3-950C-F094EEE24D82}"/>
              </a:ext>
            </a:extLst>
          </p:cNvPr>
          <p:cNvSpPr/>
          <p:nvPr/>
        </p:nvSpPr>
        <p:spPr>
          <a:xfrm flipH="1">
            <a:off x="6113637" y="4054363"/>
            <a:ext cx="2074017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F995284-0235-C1C7-8973-8F7976A6D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025" y="1906592"/>
            <a:ext cx="3675212" cy="4300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AB050F-2BE2-D091-ACD9-60C15C190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219" y="2749463"/>
            <a:ext cx="1849232" cy="2517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80177-92FA-556B-0806-1EC57FA3B4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28" y="3053293"/>
            <a:ext cx="2122183" cy="350243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8FB24B71-AC50-B81C-C763-EBB67792B071}"/>
              </a:ext>
            </a:extLst>
          </p:cNvPr>
          <p:cNvSpPr/>
          <p:nvPr/>
        </p:nvSpPr>
        <p:spPr>
          <a:xfrm flipH="1">
            <a:off x="1992384" y="4054363"/>
            <a:ext cx="2229464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7597C285-6609-8422-22AF-659DE9CF0353}"/>
              </a:ext>
            </a:extLst>
          </p:cNvPr>
          <p:cNvSpPr/>
          <p:nvPr/>
        </p:nvSpPr>
        <p:spPr>
          <a:xfrm>
            <a:off x="6069171" y="3508941"/>
            <a:ext cx="2076348" cy="6291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6B125E-338B-74E3-094C-97ADCA31DA95}"/>
              </a:ext>
            </a:extLst>
          </p:cNvPr>
          <p:cNvSpPr txBox="1"/>
          <p:nvPr/>
        </p:nvSpPr>
        <p:spPr>
          <a:xfrm>
            <a:off x="6310138" y="3204784"/>
            <a:ext cx="212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System </a:t>
            </a:r>
            <a:r>
              <a:rPr lang="en-US" sz="1400" dirty="0"/>
              <a:t>&amp; User prompts </a:t>
            </a:r>
            <a:br>
              <a:rPr lang="en-US" sz="1400" dirty="0"/>
            </a:br>
            <a:r>
              <a:rPr lang="en-US" sz="1400" dirty="0"/>
              <a:t>+ session history + tools</a:t>
            </a:r>
            <a:endParaRPr lang="de-DE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93CE3B-6043-5D2F-AC0D-A6B33FF08413}"/>
              </a:ext>
            </a:extLst>
          </p:cNvPr>
          <p:cNvSpPr txBox="1"/>
          <p:nvPr/>
        </p:nvSpPr>
        <p:spPr>
          <a:xfrm>
            <a:off x="6435276" y="4520257"/>
            <a:ext cx="1396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Reply, thinking, tool calls</a:t>
            </a:r>
            <a:endParaRPr lang="de-DE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817E3E-A2D3-5FFC-1119-70B829A9A0D4}"/>
              </a:ext>
            </a:extLst>
          </p:cNvPr>
          <p:cNvSpPr txBox="1"/>
          <p:nvPr/>
        </p:nvSpPr>
        <p:spPr>
          <a:xfrm>
            <a:off x="2586037" y="4520257"/>
            <a:ext cx="1396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Reply, thinking, tool calls</a:t>
            </a:r>
            <a:endParaRPr lang="de-DE" sz="1400" dirty="0"/>
          </a:p>
        </p:txBody>
      </p:sp>
      <p:pic>
        <p:nvPicPr>
          <p:cNvPr id="29" name="Picture 28" descr="Microsoft logo transparent PNG 22100816 PNG">
            <a:extLst>
              <a:ext uri="{FF2B5EF4-FFF2-40B4-BE49-F238E27FC236}">
                <a16:creationId xmlns:a16="http://schemas.microsoft.com/office/drawing/2014/main" id="{65E4D0C5-1D8F-8159-4A16-959B0FDD42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359" y="2741910"/>
            <a:ext cx="655490" cy="655490"/>
          </a:xfrm>
          <a:prstGeom prst="rect">
            <a:avLst/>
          </a:prstGeom>
        </p:spPr>
      </p:pic>
      <p:pic>
        <p:nvPicPr>
          <p:cNvPr id="33" name="Picture 32" descr="Microsoft logo transparent PNG 22100816 PNG">
            <a:extLst>
              <a:ext uri="{FF2B5EF4-FFF2-40B4-BE49-F238E27FC236}">
                <a16:creationId xmlns:a16="http://schemas.microsoft.com/office/drawing/2014/main" id="{479D2D37-E94B-3D4D-47C2-FDC9127C48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542" y="2693569"/>
            <a:ext cx="655490" cy="655490"/>
          </a:xfrm>
          <a:prstGeom prst="rect">
            <a:avLst/>
          </a:prstGeom>
        </p:spPr>
      </p:pic>
      <p:pic>
        <p:nvPicPr>
          <p:cNvPr id="35" name="Graphic 34" descr="No sign with solid fill">
            <a:extLst>
              <a:ext uri="{FF2B5EF4-FFF2-40B4-BE49-F238E27FC236}">
                <a16:creationId xmlns:a16="http://schemas.microsoft.com/office/drawing/2014/main" id="{4117CACA-2C0A-9D7D-579E-76C4819D7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16143" y="2660244"/>
            <a:ext cx="684435" cy="6844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348B3F2-6E89-2F7B-E438-EC2FB9C2F4B3}"/>
              </a:ext>
            </a:extLst>
          </p:cNvPr>
          <p:cNvSpPr txBox="1"/>
          <p:nvPr/>
        </p:nvSpPr>
        <p:spPr>
          <a:xfrm>
            <a:off x="1772688" y="5849604"/>
            <a:ext cx="5897460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It’s your server – why follow Microsoft’s content policies?</a:t>
            </a:r>
            <a:endParaRPr lang="de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F90AFC-7C9A-D186-274F-458FDA1EBE41}"/>
              </a:ext>
            </a:extLst>
          </p:cNvPr>
          <p:cNvSpPr txBox="1"/>
          <p:nvPr/>
        </p:nvSpPr>
        <p:spPr>
          <a:xfrm>
            <a:off x="2272151" y="3209278"/>
            <a:ext cx="212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System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/>
              <a:t>&amp; User prompts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/>
              <a:t>+ session history + tools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93565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Dieter Schwarzmann</dc:creator>
  <cp:lastModifiedBy>Dieter Schwarzmann</cp:lastModifiedBy>
  <cp:revision>6</cp:revision>
  <dcterms:created xsi:type="dcterms:W3CDTF">2026-09-13T11:11:51Z</dcterms:created>
  <dcterms:modified xsi:type="dcterms:W3CDTF">2026-09-14T08:08:44Z</dcterms:modified>
</cp:coreProperties>
</file>